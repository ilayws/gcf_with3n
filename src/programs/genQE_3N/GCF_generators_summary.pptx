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1" r:id="rId5"/>
    <p:sldId id="258" r:id="rId6"/>
    <p:sldId id="263" r:id="rId7"/>
    <p:sldId id="264" r:id="rId8"/>
    <p:sldId id="265" r:id="rId9"/>
    <p:sldId id="271" r:id="rId10"/>
    <p:sldId id="260" r:id="rId11"/>
    <p:sldId id="282" r:id="rId12"/>
    <p:sldId id="269" r:id="rId13"/>
    <p:sldId id="267" r:id="rId14"/>
    <p:sldId id="281" r:id="rId15"/>
    <p:sldId id="274" r:id="rId16"/>
    <p:sldId id="270" r:id="rId17"/>
    <p:sldId id="280" r:id="rId18"/>
    <p:sldId id="277" r:id="rId19"/>
    <p:sldId id="278" r:id="rId20"/>
    <p:sldId id="266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23"/>
    <p:restoredTop sz="94679"/>
  </p:normalViewPr>
  <p:slideViewPr>
    <p:cSldViewPr snapToGrid="0" snapToObjects="1">
      <p:cViewPr>
        <p:scale>
          <a:sx n="62" d="100"/>
          <a:sy n="62" d="100"/>
        </p:scale>
        <p:origin x="1808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F7E76-4F50-5144-994B-E27FE07D8CE5}" type="datetimeFigureOut">
              <a:rPr lang="en-IL" smtClean="0"/>
              <a:t>06/06/2026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AA9AC-DEAE-EA4F-8E11-491B93D501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5562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F22D7-073F-8A4B-B248-A2B4B4D830B0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4872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6F5E-4CFC-667B-737F-7581F26D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52130-6CD7-9E34-66D1-511BA78C7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7ED4C-B0CE-9114-A4D6-EB25032A7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07C3C-46B5-C498-FB25-94301BCA5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F22D7-073F-8A4B-B248-A2B4B4D830B0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7029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0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GCF Quasi-Elastic Event Generators + GENIE FSI : technical details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/>
              <a:t>Common </a:t>
            </a:r>
            <a:r>
              <a:rPr lang="en-US" sz="2600" b="1" dirty="0"/>
              <a:t>Montecarlo to all generators</a:t>
            </a:r>
            <a:endParaRPr sz="2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84124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/>
              <a:t>• All four generators share one importance-sampling engine.</a:t>
            </a:r>
          </a:p>
          <a:p>
            <a:pPr>
              <a:spcAft>
                <a:spcPts val="400"/>
              </a:spcAft>
            </a:pPr>
            <a:r>
              <a:rPr sz="1600" dirty="0"/>
              <a:t>• Each trial starts weight=1; every sampled variable multiplies weight by its interval volume.</a:t>
            </a:r>
          </a:p>
          <a:p>
            <a:pPr>
              <a:spcAft>
                <a:spcPts val="400"/>
              </a:spcAft>
            </a:pPr>
            <a:r>
              <a:rPr sz="1600" dirty="0"/>
              <a:t>• Physics factors multiplied in: structure/density function, e-N cross section, energy-conservation Jacobians.</a:t>
            </a:r>
          </a:p>
          <a:p>
            <a:pPr>
              <a:spcAft>
                <a:spcPts val="400"/>
              </a:spcAft>
            </a:pPr>
            <a:r>
              <a:rPr sz="1600" dirty="0"/>
              <a:t>• Kinematically invalid trial -&gt; weight=0, discarded. Surviving events + weights -&gt; ROOT </a:t>
            </a:r>
            <a:r>
              <a:rPr sz="1600" dirty="0" err="1"/>
              <a:t>TTree</a:t>
            </a:r>
            <a:r>
              <a:rPr sz="1600" dirty="0"/>
              <a:t> (weight-summed cross sections).</a:t>
            </a:r>
          </a:p>
          <a:p>
            <a:pPr>
              <a:spcAft>
                <a:spcPts val="400"/>
              </a:spcAft>
            </a:pPr>
            <a:r>
              <a:rPr sz="1600" dirty="0"/>
              <a:t>• Beam: electron along z, fixed energy</a:t>
            </a:r>
            <a:r>
              <a:rPr lang="en-US" sz="1600" dirty="0"/>
              <a:t> 6GeV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</a:pPr>
            <a:r>
              <a:rPr sz="1600" dirty="0"/>
              <a:t>• e-N cross section </a:t>
            </a:r>
            <a:r>
              <a:rPr sz="1600" dirty="0" err="1"/>
              <a:t>sigma_eN</a:t>
            </a:r>
            <a:r>
              <a:rPr sz="1600" dirty="0"/>
              <a:t>: De Forest CC1 (default) or CC2 off-shell, or on-shell Rosenbluth.</a:t>
            </a:r>
          </a:p>
          <a:p>
            <a:pPr>
              <a:spcAft>
                <a:spcPts val="400"/>
              </a:spcAft>
            </a:pPr>
            <a:r>
              <a:rPr sz="1600" dirty="0"/>
              <a:t>• Form factors: Kelly (default); dipole or Ye (Galster for neutron electric) optional.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/>
              <a:t>2N SRC generator  (GCF)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841248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/>
              <a:t>• Scattering off one nucleon of a short-range-correlated pair. (</a:t>
            </a:r>
            <a:r>
              <a:rPr sz="1600" dirty="0" err="1"/>
              <a:t>generate_event</a:t>
            </a:r>
            <a:r>
              <a:rPr sz="1600" dirty="0"/>
              <a:t>)</a:t>
            </a:r>
          </a:p>
          <a:p>
            <a:pPr>
              <a:spcAft>
                <a:spcPts val="400"/>
              </a:spcAft>
            </a:pPr>
            <a:r>
              <a:rPr sz="1600" dirty="0"/>
              <a:t>• Assign pair isospin </a:t>
            </a:r>
            <a:r>
              <a:rPr sz="1600" dirty="0" err="1"/>
              <a:t>lead+recoil</a:t>
            </a:r>
            <a:r>
              <a:rPr sz="1600" dirty="0"/>
              <a:t> 50/50, weight x4 (pp/</a:t>
            </a:r>
            <a:r>
              <a:rPr sz="1600" dirty="0" err="1"/>
              <a:t>pn</a:t>
            </a:r>
            <a:r>
              <a:rPr sz="1600" dirty="0"/>
              <a:t>/np/</a:t>
            </a:r>
            <a:r>
              <a:rPr sz="1600" dirty="0" err="1"/>
              <a:t>nn</a:t>
            </a:r>
            <a:r>
              <a:rPr sz="1600" dirty="0"/>
              <a:t>).</a:t>
            </a:r>
          </a:p>
          <a:p>
            <a:pPr>
              <a:spcAft>
                <a:spcPts val="400"/>
              </a:spcAft>
            </a:pPr>
            <a:r>
              <a:rPr sz="1600" dirty="0"/>
              <a:t>• CM momentum from 3D Gaussian (</a:t>
            </a:r>
            <a:r>
              <a:rPr sz="1600" dirty="0" err="1"/>
              <a:t>sigma_CM</a:t>
            </a:r>
            <a:r>
              <a:rPr sz="1600" dirty="0"/>
              <a:t> ~ 0.10-0.15 GeV/c).</a:t>
            </a:r>
          </a:p>
          <a:p>
            <a:pPr>
              <a:spcAft>
                <a:spcPts val="400"/>
              </a:spcAft>
            </a:pPr>
            <a:r>
              <a:rPr sz="1600" dirty="0"/>
              <a:t>• Relative momentum: </a:t>
            </a:r>
            <a:r>
              <a:rPr lang="en-US" sz="1600" dirty="0"/>
              <a:t>uniform in </a:t>
            </a:r>
            <a:r>
              <a:rPr sz="1600" dirty="0"/>
              <a:t>direction, magnitude uniform in [</a:t>
            </a:r>
            <a:r>
              <a:rPr sz="1600" dirty="0" err="1"/>
              <a:t>pRel_min</a:t>
            </a:r>
            <a:r>
              <a:rPr sz="1600" dirty="0"/>
              <a:t>, </a:t>
            </a:r>
            <a:r>
              <a:rPr sz="1600" dirty="0" err="1"/>
              <a:t>pRel_max</a:t>
            </a:r>
            <a:r>
              <a:rPr sz="1600" dirty="0"/>
              <a:t>].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300" dirty="0"/>
              <a:t>Initial </a:t>
            </a:r>
            <a:r>
              <a:rPr sz="1300" dirty="0"/>
              <a:t>Weight x phase space x pRel^2 x S(</a:t>
            </a:r>
            <a:r>
              <a:rPr sz="1300" dirty="0" err="1"/>
              <a:t>pRel</a:t>
            </a:r>
            <a:r>
              <a:rPr sz="1300" dirty="0"/>
              <a:t>)/(2 pi)^3, with S = </a:t>
            </a:r>
            <a:r>
              <a:rPr sz="1300" dirty="0" err="1"/>
              <a:t>C_ij</a:t>
            </a:r>
            <a:r>
              <a:rPr sz="1300" dirty="0"/>
              <a:t> |</a:t>
            </a:r>
            <a:r>
              <a:rPr sz="1300" dirty="0" err="1"/>
              <a:t>phi_ij</a:t>
            </a:r>
            <a:r>
              <a:rPr sz="1300" dirty="0"/>
              <a:t>(</a:t>
            </a:r>
            <a:r>
              <a:rPr sz="1300" dirty="0" err="1"/>
              <a:t>pRel</a:t>
            </a:r>
            <a:r>
              <a:rPr sz="1300" dirty="0"/>
              <a:t>)|^2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 err="1"/>
              <a:t>i.e</a:t>
            </a:r>
            <a:r>
              <a:rPr lang="en-US" sz="1300" dirty="0"/>
              <a:t> </a:t>
            </a:r>
            <a:r>
              <a:rPr sz="1300" dirty="0"/>
              <a:t>contact coefficient C x universal pair function phi tabulated per NN model: AV18, AV4</a:t>
            </a:r>
            <a:r>
              <a:rPr lang="en-US" sz="1300" dirty="0"/>
              <a:t>,</a:t>
            </a:r>
            <a:r>
              <a:rPr sz="1300" dirty="0"/>
              <a:t> N2LO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sz="1600" dirty="0"/>
              <a:t>• Momenta: p1=CM/2+pRel (struck), </a:t>
            </a:r>
            <a:r>
              <a:rPr sz="1600" dirty="0" err="1"/>
              <a:t>pRec</a:t>
            </a:r>
            <a:r>
              <a:rPr sz="1600" dirty="0"/>
              <a:t>=CM/2-pRel; (A-2) recoils -(p1+pRec). 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600" dirty="0"/>
              <a:t>Struck off-shell: E1=mA-E(A-2)-Erec.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D8125-1206-2E0B-9A12-82BDE37369EB}"/>
              </a:ext>
            </a:extLst>
          </p:cNvPr>
          <p:cNvSpPr txBox="1"/>
          <p:nvPr/>
        </p:nvSpPr>
        <p:spPr>
          <a:xfrm>
            <a:off x="7169466" y="4752601"/>
            <a:ext cx="160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cm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0CC69-80F4-EE17-7F8A-94AAF5837B53}"/>
              </a:ext>
            </a:extLst>
          </p:cNvPr>
          <p:cNvSpPr txBox="1"/>
          <p:nvPr/>
        </p:nvSpPr>
        <p:spPr>
          <a:xfrm>
            <a:off x="5598564" y="4752601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2-body density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0820C-EC10-8A88-A076-B3A93FA517CB}"/>
              </a:ext>
            </a:extLst>
          </p:cNvPr>
          <p:cNvSpPr txBox="1"/>
          <p:nvPr/>
        </p:nvSpPr>
        <p:spPr>
          <a:xfrm>
            <a:off x="2743182" y="4777523"/>
            <a:ext cx="2406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contacts, combinatorics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98CD71-66DD-BDFE-C9C3-94357C9E9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11" y="5330025"/>
            <a:ext cx="3128156" cy="9528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1DAC61-C693-EFA8-9BD6-9F325071214A}"/>
              </a:ext>
            </a:extLst>
          </p:cNvPr>
          <p:cNvSpPr txBox="1"/>
          <p:nvPr/>
        </p:nvSpPr>
        <p:spPr>
          <a:xfrm>
            <a:off x="736938" y="4752601"/>
            <a:ext cx="176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spectral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34B28E-C755-1720-78A4-2B992A4AE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461" y="3827861"/>
            <a:ext cx="6642100" cy="927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7D5ACC-A68A-07D9-607E-B32A131CFD93}"/>
              </a:ext>
            </a:extLst>
          </p:cNvPr>
          <p:cNvSpPr txBox="1"/>
          <p:nvPr/>
        </p:nvSpPr>
        <p:spPr>
          <a:xfrm>
            <a:off x="624439" y="3681514"/>
            <a:ext cx="2265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spectral function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3N</a:t>
            </a:r>
            <a:r>
              <a:rPr sz="2600" b="1" dirty="0"/>
              <a:t> SRC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841248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/>
              <a:t>• e + A -&gt; e' + N1 + N2 + N3 + (A-3)*; scattering off one nucleon of a correlated triplet. 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600" dirty="0"/>
              <a:t>(</a:t>
            </a:r>
            <a:r>
              <a:rPr lang="en-US" sz="1600" dirty="0"/>
              <a:t>see attached document for more details</a:t>
            </a:r>
            <a:r>
              <a:rPr sz="1600" dirty="0"/>
              <a:t>)</a:t>
            </a:r>
          </a:p>
          <a:p>
            <a:pPr>
              <a:spcAft>
                <a:spcPts val="400"/>
              </a:spcAft>
            </a:pPr>
            <a:r>
              <a:rPr sz="1600" dirty="0"/>
              <a:t>• Key change vs 2N: contact x universal function -&gt; pre-computed 3-body density matrix</a:t>
            </a:r>
            <a:r>
              <a:rPr lang="en-US" sz="1600" dirty="0"/>
              <a:t> 3He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</a:pPr>
            <a:r>
              <a:rPr sz="1600" dirty="0"/>
              <a:t>• </a:t>
            </a:r>
            <a:r>
              <a:rPr sz="1600" dirty="0" err="1"/>
              <a:t>ppn</a:t>
            </a:r>
            <a:r>
              <a:rPr sz="1600" dirty="0"/>
              <a:t> triplets only: start all protons, flip one (uniform among 3) to neutron, weight x3.</a:t>
            </a:r>
          </a:p>
          <a:p>
            <a:pPr>
              <a:spcAft>
                <a:spcPts val="400"/>
              </a:spcAft>
            </a:pPr>
            <a:r>
              <a:rPr sz="1600" dirty="0"/>
              <a:t>• Target/residual masses configurable</a:t>
            </a:r>
            <a:r>
              <a:rPr lang="en-US" sz="1600" dirty="0"/>
              <a:t>, use 12C by default</a:t>
            </a:r>
          </a:p>
          <a:p>
            <a:pPr>
              <a:spcAft>
                <a:spcPts val="400"/>
              </a:spcAft>
            </a:pPr>
            <a:r>
              <a:rPr sz="1600" dirty="0"/>
              <a:t>• 3-body CM momentum from 3-D Gaussian 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600" dirty="0"/>
              <a:t>Each nucleon +P_CM/3; residual -P_CM.</a:t>
            </a:r>
          </a:p>
          <a:p>
            <a:pPr>
              <a:spcAft>
                <a:spcPts val="400"/>
              </a:spcAft>
            </a:pPr>
            <a:r>
              <a:rPr sz="1600" dirty="0"/>
              <a:t>• Orientation: 3 Euler angles uniform, weight x 8 pi^2.</a:t>
            </a:r>
          </a:p>
          <a:p>
            <a:pPr>
              <a:spcAft>
                <a:spcPts val="400"/>
              </a:spcAft>
            </a:pPr>
            <a:r>
              <a:rPr sz="1600" dirty="0"/>
              <a:t>• Internal Jacobi vars sampled in 'primed' wavefunction frame: </a:t>
            </a:r>
            <a:r>
              <a:rPr sz="1600" dirty="0" err="1"/>
              <a:t>p_a</a:t>
            </a:r>
            <a:r>
              <a:rPr sz="1600" dirty="0"/>
              <a:t>=|neutron|, </a:t>
            </a:r>
            <a:r>
              <a:rPr sz="1600" dirty="0" err="1"/>
              <a:t>p_b</a:t>
            </a:r>
            <a:r>
              <a:rPr sz="1600" dirty="0"/>
              <a:t>=|pp </a:t>
            </a:r>
            <a:r>
              <a:rPr sz="1600" dirty="0" err="1"/>
              <a:t>rel</a:t>
            </a:r>
            <a:r>
              <a:rPr sz="1600" dirty="0"/>
              <a:t> /2|, </a:t>
            </a:r>
            <a:r>
              <a:rPr sz="1600" dirty="0" err="1"/>
              <a:t>theta_ab</a:t>
            </a:r>
            <a:r>
              <a:rPr sz="1600" dirty="0"/>
              <a:t>; weight x volume.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027DE-21D3-73FA-0AF2-E866D0E65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92" y="4764275"/>
            <a:ext cx="7151336" cy="77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4080F4-B352-76CF-51C2-CED4D1DB77BC}"/>
              </a:ext>
            </a:extLst>
          </p:cNvPr>
          <p:cNvSpPr txBox="1"/>
          <p:nvPr/>
        </p:nvSpPr>
        <p:spPr>
          <a:xfrm>
            <a:off x="8010093" y="5377591"/>
            <a:ext cx="160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cm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6547E-40D7-0B40-AEDF-5D5FD01B4AE3}"/>
              </a:ext>
            </a:extLst>
          </p:cNvPr>
          <p:cNvSpPr txBox="1"/>
          <p:nvPr/>
        </p:nvSpPr>
        <p:spPr>
          <a:xfrm>
            <a:off x="6379518" y="5377591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3-body density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8175D-71CC-DE29-AA42-4F1B7BC700AE}"/>
              </a:ext>
            </a:extLst>
          </p:cNvPr>
          <p:cNvSpPr txBox="1"/>
          <p:nvPr/>
        </p:nvSpPr>
        <p:spPr>
          <a:xfrm>
            <a:off x="2102793" y="5409231"/>
            <a:ext cx="2406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contacts, combinatorics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5EB9E1-F01A-C21F-AED1-BBD6DA8C1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30" y="5905171"/>
            <a:ext cx="3128156" cy="952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2B2FC7-1D22-6B0B-5CE9-607B6DF8C8F4}"/>
              </a:ext>
            </a:extLst>
          </p:cNvPr>
          <p:cNvSpPr txBox="1"/>
          <p:nvPr/>
        </p:nvSpPr>
        <p:spPr>
          <a:xfrm>
            <a:off x="184100" y="5469446"/>
            <a:ext cx="176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spectral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F5F3F-57A5-D6F4-CA2D-8C382B5DFEF2}"/>
              </a:ext>
            </a:extLst>
          </p:cNvPr>
          <p:cNvSpPr txBox="1"/>
          <p:nvPr/>
        </p:nvSpPr>
        <p:spPr>
          <a:xfrm>
            <a:off x="387553" y="393135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-------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49433A-F0C2-6E33-F777-19734D8E2786}"/>
              </a:ext>
            </a:extLst>
          </p:cNvPr>
          <p:cNvSpPr txBox="1"/>
          <p:nvPr/>
        </p:nvSpPr>
        <p:spPr>
          <a:xfrm>
            <a:off x="387553" y="4371309"/>
            <a:ext cx="2265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spectral function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/>
              <a:t>Mean-Field (single-nucleon)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8412480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/>
              <a:t>• Quasi-elastic knockout of one uncorrelated nucleon from a Fermi gas.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600" dirty="0"/>
              <a:t> •Pick struck-nucleon isospin </a:t>
            </a:r>
            <a:r>
              <a:rPr sz="1600" dirty="0" err="1"/>
              <a:t>p/n</a:t>
            </a:r>
            <a:r>
              <a:rPr sz="1600" dirty="0"/>
              <a:t> 50/50, weight x2; no correlated partner.</a:t>
            </a:r>
          </a:p>
          <a:p>
            <a:pPr>
              <a:spcAft>
                <a:spcPts val="400"/>
              </a:spcAft>
            </a:pPr>
            <a:r>
              <a:rPr sz="1600" dirty="0"/>
              <a:t>• Sample initial momentum from a Fermi gas: isotropic direction, |p| uniform in [0, </a:t>
            </a:r>
            <a:r>
              <a:rPr sz="1600" dirty="0" err="1"/>
              <a:t>kF</a:t>
            </a:r>
            <a:r>
              <a:rPr sz="1600" dirty="0"/>
              <a:t>].</a:t>
            </a:r>
          </a:p>
          <a:p>
            <a:pPr lvl="1">
              <a:spcAft>
                <a:spcPts val="400"/>
              </a:spcAft>
            </a:pPr>
            <a:r>
              <a:rPr sz="1300" dirty="0"/>
              <a:t>  -</a:t>
            </a:r>
            <a:r>
              <a:rPr lang="en-US" sz="1300" dirty="0"/>
              <a:t> Currently only</a:t>
            </a:r>
            <a:r>
              <a:rPr sz="1300" dirty="0"/>
              <a:t> </a:t>
            </a:r>
            <a:r>
              <a:rPr sz="1300" b="1" dirty="0"/>
              <a:t>Global</a:t>
            </a:r>
            <a:r>
              <a:rPr sz="1300" dirty="0"/>
              <a:t> </a:t>
            </a:r>
            <a:r>
              <a:rPr lang="en-US" sz="1300" dirty="0"/>
              <a:t>fermi gas</a:t>
            </a:r>
            <a:r>
              <a:rPr sz="1300" dirty="0"/>
              <a:t>: uniform-sphere n(p)=3/(4 pi kF^3).</a:t>
            </a:r>
          </a:p>
          <a:p>
            <a:pPr>
              <a:spcAft>
                <a:spcPts val="400"/>
              </a:spcAft>
            </a:pPr>
            <a:r>
              <a:rPr sz="1600" dirty="0"/>
              <a:t>• (A-1) residual: tabulated ground-state mass, recoils with -p1.</a:t>
            </a:r>
          </a:p>
          <a:p>
            <a:pPr>
              <a:spcAft>
                <a:spcPts val="400"/>
              </a:spcAft>
            </a:pPr>
            <a:r>
              <a:rPr sz="1600" dirty="0"/>
              <a:t>• Struck nucleon off-shell: E1 = mA - E(A-1) by energy conservation.</a:t>
            </a:r>
          </a:p>
          <a:p>
            <a:pPr>
              <a:spcAft>
                <a:spcPts val="400"/>
              </a:spcAft>
            </a:pPr>
            <a:r>
              <a:rPr sz="1600" dirty="0"/>
              <a:t>• Lepton vertex solved (shared solver); FSI transports the nucleon through (A-1).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/>
              <a:t>GENIE FSI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841248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/>
              <a:t>• Post-processing of the bare PWIA event. 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600" dirty="0"/>
              <a:t>• Residual medium traversed: A-1 (MF), A-2 (2N), A-3 (3N).</a:t>
            </a:r>
            <a:r>
              <a:rPr lang="en-US" sz="1600" dirty="0"/>
              <a:t> Each nucleon is independently transported through the residual medium.</a:t>
            </a:r>
            <a:endParaRPr sz="1600" dirty="0"/>
          </a:p>
          <a:p>
            <a:pPr>
              <a:spcAft>
                <a:spcPts val="400"/>
              </a:spcAft>
            </a:pPr>
            <a:r>
              <a:rPr sz="1600" dirty="0"/>
              <a:t>• </a:t>
            </a:r>
            <a:r>
              <a:rPr lang="en-US" sz="1600" dirty="0"/>
              <a:t>GENIE recommends </a:t>
            </a:r>
            <a:r>
              <a:rPr lang="en-US" sz="1600" dirty="0" err="1"/>
              <a:t>A_res</a:t>
            </a:r>
            <a:r>
              <a:rPr lang="en-US" sz="1600" dirty="0"/>
              <a:t> &gt; 6.</a:t>
            </a:r>
            <a:endParaRPr sz="1600" dirty="0"/>
          </a:p>
          <a:p>
            <a:pPr>
              <a:spcAft>
                <a:spcPts val="400"/>
              </a:spcAft>
            </a:pPr>
            <a:r>
              <a:rPr sz="1600" dirty="0"/>
              <a:t>• Common vertex for the correlated nucleons, </a:t>
            </a:r>
            <a:r>
              <a:rPr lang="en-US" sz="1600" dirty="0"/>
              <a:t>sampled</a:t>
            </a:r>
            <a:r>
              <a:rPr sz="1600" dirty="0"/>
              <a:t> from </a:t>
            </a:r>
            <a:r>
              <a:rPr sz="1600" dirty="0" err="1"/>
              <a:t>rho^n</a:t>
            </a:r>
            <a:r>
              <a:rPr sz="1600" dirty="0"/>
              <a:t>(r) r^2:</a:t>
            </a:r>
          </a:p>
          <a:p>
            <a:pPr lvl="1">
              <a:spcAft>
                <a:spcPts val="400"/>
              </a:spcAft>
            </a:pPr>
            <a:r>
              <a:rPr sz="1300" dirty="0"/>
              <a:t>  - n=1 (MF single), n=2 (pair), n=3 (triplet); rho from GENIE density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/>
              <a:t>GENIE FSI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841248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/>
              <a:t>• Per nucleon: build GENIE record in lepton-nucleus mode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600" dirty="0"/>
              <a:t>• Target = residual ion (</a:t>
            </a:r>
            <a:r>
              <a:rPr sz="1600" dirty="0" err="1"/>
              <a:t>A_res,Z_res</a:t>
            </a:r>
            <a:r>
              <a:rPr sz="1600" dirty="0"/>
              <a:t>)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600" dirty="0"/>
              <a:t>• Run INTRANUKE 2018 cascade: </a:t>
            </a:r>
            <a:r>
              <a:rPr sz="1600" dirty="0" err="1"/>
              <a:t>hN</a:t>
            </a:r>
            <a:r>
              <a:rPr sz="1600" dirty="0"/>
              <a:t> (full cascade, default) or </a:t>
            </a:r>
            <a:r>
              <a:rPr sz="1600" dirty="0" err="1"/>
              <a:t>hA</a:t>
            </a:r>
            <a:r>
              <a:rPr sz="1600" dirty="0"/>
              <a:t> (effective single step). 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sz="1600" dirty="0"/>
              <a:t>• Follow chain to surviving stable nucleon (highest-</a:t>
            </a:r>
            <a:r>
              <a:rPr lang="en-US" sz="1600" dirty="0"/>
              <a:t>energy</a:t>
            </a:r>
            <a:r>
              <a:rPr sz="1600" dirty="0"/>
              <a:t> if several): updates 4-momentum and species (captures charge exchange).</a:t>
            </a:r>
          </a:p>
          <a:p>
            <a:pPr>
              <a:spcAft>
                <a:spcPts val="400"/>
              </a:spcAft>
            </a:pPr>
            <a:r>
              <a:rPr sz="1600" dirty="0"/>
              <a:t>• Other stable products recorded as secondaries (pi+/pi0/pi- counted). Full absorption -&gt; weight=0.</a:t>
            </a:r>
          </a:p>
          <a:p>
            <a:pPr>
              <a:spcAft>
                <a:spcPts val="400"/>
              </a:spcAft>
            </a:pPr>
            <a:r>
              <a:rPr sz="1600" dirty="0"/>
              <a:t>• Pauli blocking: any final |p| &lt; Fermi momentum (default 220 MeV/c) -&gt; weight=0.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52E5-BD69-38AC-36EE-D48CBFC9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11675-2C60-28D8-C9D8-4A75DF3D541A}"/>
              </a:ext>
            </a:extLst>
          </p:cNvPr>
          <p:cNvSpPr txBox="1"/>
          <p:nvPr/>
        </p:nvSpPr>
        <p:spPr>
          <a:xfrm>
            <a:off x="548640" y="2011680"/>
            <a:ext cx="8046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Plots and results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024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8FBF2C-43F6-B38A-5835-02FE39330D77}"/>
              </a:ext>
            </a:extLst>
          </p:cNvPr>
          <p:cNvSpPr txBox="1"/>
          <p:nvPr/>
        </p:nvSpPr>
        <p:spPr>
          <a:xfrm>
            <a:off x="342900" y="1062990"/>
            <a:ext cx="84353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0B2C5E"/>
                </a:solidFill>
              </a:rPr>
              <a:t>3N-SRC configurations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917CF5-6931-D9F0-54C4-926A2212B2E0}"/>
              </a:ext>
            </a:extLst>
          </p:cNvPr>
          <p:cNvCxnSpPr>
            <a:cxnSpLocks/>
          </p:cNvCxnSpPr>
          <p:nvPr/>
        </p:nvCxnSpPr>
        <p:spPr>
          <a:xfrm flipV="1">
            <a:off x="4157661" y="2389585"/>
            <a:ext cx="1296593" cy="1089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701D0C-9962-D489-6F49-F602973D7D08}"/>
              </a:ext>
            </a:extLst>
          </p:cNvPr>
          <p:cNvCxnSpPr>
            <a:cxnSpLocks/>
          </p:cNvCxnSpPr>
          <p:nvPr/>
        </p:nvCxnSpPr>
        <p:spPr>
          <a:xfrm flipH="1" flipV="1">
            <a:off x="2668191" y="3096816"/>
            <a:ext cx="1489470" cy="382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CC90EE-7540-57C3-A78E-06B740E94C31}"/>
              </a:ext>
            </a:extLst>
          </p:cNvPr>
          <p:cNvCxnSpPr>
            <a:cxnSpLocks/>
          </p:cNvCxnSpPr>
          <p:nvPr/>
        </p:nvCxnSpPr>
        <p:spPr>
          <a:xfrm>
            <a:off x="4157662" y="3479051"/>
            <a:ext cx="0" cy="1793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CCD3D3F-555D-986A-7135-4FD6525246D2}"/>
              </a:ext>
            </a:extLst>
          </p:cNvPr>
          <p:cNvSpPr/>
          <p:nvPr/>
        </p:nvSpPr>
        <p:spPr>
          <a:xfrm>
            <a:off x="3701364" y="3043236"/>
            <a:ext cx="891161" cy="89116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672CFA-0650-5D71-946B-43D34D693233}"/>
                  </a:ext>
                </a:extLst>
              </p:cNvPr>
              <p:cNvSpPr txBox="1"/>
              <p:nvPr/>
            </p:nvSpPr>
            <p:spPr>
              <a:xfrm>
                <a:off x="4248528" y="3460822"/>
                <a:ext cx="28078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L" sz="135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672CFA-0650-5D71-946B-43D34D693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528" y="3460822"/>
                <a:ext cx="280782" cy="207749"/>
              </a:xfrm>
              <a:prstGeom prst="rect">
                <a:avLst/>
              </a:prstGeom>
              <a:blipFill>
                <a:blip r:embed="rId3"/>
                <a:stretch>
                  <a:fillRect l="-13043" r="-4348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D2322A-A6C5-9844-F334-FEBA02BA1E2B}"/>
                  </a:ext>
                </a:extLst>
              </p:cNvPr>
              <p:cNvSpPr txBox="1"/>
              <p:nvPr/>
            </p:nvSpPr>
            <p:spPr>
              <a:xfrm>
                <a:off x="3831430" y="3532631"/>
                <a:ext cx="28482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IL" sz="135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D2322A-A6C5-9844-F334-FEBA02BA1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430" y="3532631"/>
                <a:ext cx="284822" cy="207749"/>
              </a:xfrm>
              <a:prstGeom prst="rect">
                <a:avLst/>
              </a:prstGeom>
              <a:blipFill>
                <a:blip r:embed="rId4"/>
                <a:stretch>
                  <a:fillRect l="-13043" r="-4348" b="-1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6EDE172-1019-0716-DDCB-867CF574B5CA}"/>
                  </a:ext>
                </a:extLst>
              </p:cNvPr>
              <p:cNvSpPr txBox="1"/>
              <p:nvPr/>
            </p:nvSpPr>
            <p:spPr>
              <a:xfrm>
                <a:off x="3995829" y="3152214"/>
                <a:ext cx="28078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L" sz="135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6EDE172-1019-0716-DDCB-867CF574B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829" y="3152214"/>
                <a:ext cx="280782" cy="207749"/>
              </a:xfrm>
              <a:prstGeom prst="rect">
                <a:avLst/>
              </a:prstGeom>
              <a:blipFill>
                <a:blip r:embed="rId5"/>
                <a:stretch>
                  <a:fillRect l="-13043" r="-4348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C2CC504-1575-6D5F-9741-A10BA8FEAF92}"/>
                  </a:ext>
                </a:extLst>
              </p:cNvPr>
              <p:cNvSpPr txBox="1"/>
              <p:nvPr/>
            </p:nvSpPr>
            <p:spPr>
              <a:xfrm>
                <a:off x="5438573" y="2095462"/>
                <a:ext cx="4605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C2CC504-1575-6D5F-9741-A10BA8FEA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573" y="2095462"/>
                <a:ext cx="460511" cy="369332"/>
              </a:xfrm>
              <a:prstGeom prst="rect">
                <a:avLst/>
              </a:prstGeom>
              <a:blipFill>
                <a:blip r:embed="rId6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712150-7F27-234A-0E29-B08BDCDA3603}"/>
                  </a:ext>
                </a:extLst>
              </p:cNvPr>
              <p:cNvSpPr txBox="1"/>
              <p:nvPr/>
            </p:nvSpPr>
            <p:spPr>
              <a:xfrm>
                <a:off x="3973824" y="5298809"/>
                <a:ext cx="465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712150-7F27-234A-0E29-B08BDCDA3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824" y="5298809"/>
                <a:ext cx="465833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B8CB17-CE1A-E53F-152A-3BABEA2B09D6}"/>
                  </a:ext>
                </a:extLst>
              </p:cNvPr>
              <p:cNvSpPr txBox="1"/>
              <p:nvPr/>
            </p:nvSpPr>
            <p:spPr>
              <a:xfrm>
                <a:off x="2318817" y="2852978"/>
                <a:ext cx="465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0B8CB17-CE1A-E53F-152A-3BABEA2B0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817" y="2852978"/>
                <a:ext cx="465833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95AA804-D4BA-3DFF-F038-9B467EB97847}"/>
              </a:ext>
            </a:extLst>
          </p:cNvPr>
          <p:cNvSpPr txBox="1"/>
          <p:nvPr/>
        </p:nvSpPr>
        <p:spPr>
          <a:xfrm>
            <a:off x="5797160" y="2164711"/>
            <a:ext cx="112242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350" dirty="0"/>
              <a:t>Lead nucleon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3C00FE9-926C-DE75-C6A2-075ACF15B54B}"/>
                  </a:ext>
                </a:extLst>
              </p:cNvPr>
              <p:cNvSpPr txBox="1"/>
              <p:nvPr/>
            </p:nvSpPr>
            <p:spPr>
              <a:xfrm>
                <a:off x="342901" y="1548390"/>
                <a:ext cx="85575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dirty="0"/>
                  <a:t>We look at the distribution of opening angles of 3N SRCs initial state [assuming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L" dirty="0"/>
                  <a:t>].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3C00FE9-926C-DE75-C6A2-075ACF15B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1" y="1548390"/>
                <a:ext cx="8557535" cy="369332"/>
              </a:xfrm>
              <a:prstGeom prst="rect">
                <a:avLst/>
              </a:prstGeom>
              <a:blipFill>
                <a:blip r:embed="rId9"/>
                <a:stretch>
                  <a:fillRect l="-444" t="-3226" b="-225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09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330" y="1217295"/>
            <a:ext cx="84353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dirty="0">
                <a:solidFill>
                  <a:srgbClr val="0B2C5E"/>
                </a:solidFill>
              </a:rPr>
              <a:t>3N-SRC configurations</a:t>
            </a:r>
            <a:r>
              <a:rPr lang="en-US" sz="2100" b="1" dirty="0">
                <a:solidFill>
                  <a:srgbClr val="0B2C5E"/>
                </a:solidFill>
              </a:rPr>
              <a:t> with NO FSI</a:t>
            </a:r>
            <a:endParaRPr sz="2100" b="1" dirty="0">
              <a:solidFill>
                <a:srgbClr val="0B2C5E"/>
              </a:solidFill>
            </a:endParaRPr>
          </a:p>
        </p:txBody>
      </p:sp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2"/>
          <a:srcRect r="1525"/>
          <a:stretch>
            <a:fillRect/>
          </a:stretch>
        </p:blipFill>
        <p:spPr>
          <a:xfrm>
            <a:off x="792957" y="1691707"/>
            <a:ext cx="7398477" cy="373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1A4A8C-0DF7-A430-6CF8-18B441C50633}"/>
              </a:ext>
            </a:extLst>
          </p:cNvPr>
          <p:cNvSpPr txBox="1"/>
          <p:nvPr/>
        </p:nvSpPr>
        <p:spPr>
          <a:xfrm>
            <a:off x="2861073" y="1885951"/>
            <a:ext cx="2914650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L" sz="1350" dirty="0"/>
              <a:t>Opening Angle Distribution (3N SRCs)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71A15-B12E-7A8C-D27E-0BDB88654C53}"/>
              </a:ext>
            </a:extLst>
          </p:cNvPr>
          <p:cNvCxnSpPr>
            <a:cxnSpLocks/>
          </p:cNvCxnSpPr>
          <p:nvPr/>
        </p:nvCxnSpPr>
        <p:spPr>
          <a:xfrm>
            <a:off x="2753513" y="2187598"/>
            <a:ext cx="3150797" cy="1337843"/>
          </a:xfrm>
          <a:prstGeom prst="line">
            <a:avLst/>
          </a:prstGeom>
          <a:ln>
            <a:solidFill>
              <a:srgbClr val="FF0000">
                <a:alpha val="50196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A01F70-5F9D-CF1B-D22B-86FF2FAE315E}"/>
              </a:ext>
            </a:extLst>
          </p:cNvPr>
          <p:cNvCxnSpPr>
            <a:cxnSpLocks/>
          </p:cNvCxnSpPr>
          <p:nvPr/>
        </p:nvCxnSpPr>
        <p:spPr>
          <a:xfrm flipV="1">
            <a:off x="2748029" y="2187599"/>
            <a:ext cx="3156281" cy="2881043"/>
          </a:xfrm>
          <a:prstGeom prst="line">
            <a:avLst/>
          </a:prstGeom>
          <a:ln>
            <a:solidFill>
              <a:srgbClr val="FF0000">
                <a:alpha val="50196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EF1269-5652-96FE-5C26-6791CB6FB950}"/>
              </a:ext>
            </a:extLst>
          </p:cNvPr>
          <p:cNvCxnSpPr>
            <a:cxnSpLocks/>
          </p:cNvCxnSpPr>
          <p:nvPr/>
        </p:nvCxnSpPr>
        <p:spPr>
          <a:xfrm flipH="1" flipV="1">
            <a:off x="4433207" y="2187599"/>
            <a:ext cx="1469571" cy="2882423"/>
          </a:xfrm>
          <a:prstGeom prst="line">
            <a:avLst/>
          </a:prstGeom>
          <a:ln>
            <a:solidFill>
              <a:srgbClr val="FF0000">
                <a:alpha val="50196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962A40-0559-36FE-FA88-E50D4014DB2C}"/>
              </a:ext>
            </a:extLst>
          </p:cNvPr>
          <p:cNvSpPr txBox="1"/>
          <p:nvPr/>
        </p:nvSpPr>
        <p:spPr>
          <a:xfrm>
            <a:off x="1863399" y="5616351"/>
            <a:ext cx="50617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350" dirty="0"/>
              <a:t>[reflection around dashed symmetry lines=permutations of nucleons]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96E39-245B-FFE1-0230-3F26CEC10D26}"/>
              </a:ext>
            </a:extLst>
          </p:cNvPr>
          <p:cNvSpPr txBox="1"/>
          <p:nvPr/>
        </p:nvSpPr>
        <p:spPr>
          <a:xfrm>
            <a:off x="1223682" y="6051176"/>
            <a:ext cx="7389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precentages are result of integrating in an arbitrary circle around each region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B0273D-61A9-9092-E34A-00FF643A5E66}"/>
              </a:ext>
            </a:extLst>
          </p:cNvPr>
          <p:cNvSpPr txBox="1"/>
          <p:nvPr/>
        </p:nvSpPr>
        <p:spPr>
          <a:xfrm>
            <a:off x="1101436" y="1288473"/>
            <a:ext cx="343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same plot without circles and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70D928-855F-9588-E4E3-93B966916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0" y="2052782"/>
            <a:ext cx="55753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62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5FF426-0CFC-D28E-5B71-A09EE1A127E7}"/>
              </a:ext>
            </a:extLst>
          </p:cNvPr>
          <p:cNvSpPr txBox="1"/>
          <p:nvPr/>
        </p:nvSpPr>
        <p:spPr>
          <a:xfrm>
            <a:off x="573397" y="924253"/>
            <a:ext cx="4953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457200" rtl="1" eaLnBrk="1" latinLnBrk="0" hangingPunct="1"/>
            <a:r>
              <a:rPr lang="en-US" dirty="0"/>
              <a:t>momentum distributions of 3N in different configs.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0F9788-2FE9-1F74-F540-B5A40066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9" y="1622441"/>
            <a:ext cx="8677842" cy="361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25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E5B99B-9907-C46D-99DC-1B361E6ADF5D}"/>
              </a:ext>
            </a:extLst>
          </p:cNvPr>
          <p:cNvSpPr txBox="1"/>
          <p:nvPr/>
        </p:nvSpPr>
        <p:spPr>
          <a:xfrm>
            <a:off x="2730521" y="5690827"/>
            <a:ext cx="3652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400" dirty="0"/>
              <a:t>xB&gt;2: Only Lead Rocket</a:t>
            </a:r>
          </a:p>
          <a:p>
            <a:r>
              <a:rPr lang="en-IL" sz="2400" dirty="0"/>
              <a:t>Star and other rocket: xB~1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6F555-0F34-F199-99C2-72A41686A065}"/>
              </a:ext>
            </a:extLst>
          </p:cNvPr>
          <p:cNvSpPr txBox="1"/>
          <p:nvPr/>
        </p:nvSpPr>
        <p:spPr>
          <a:xfrm>
            <a:off x="1627094" y="336176"/>
            <a:ext cx="1551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xB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3BB210-1275-6156-DE68-E06EB93D1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9" y="981486"/>
            <a:ext cx="7465610" cy="41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42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6E4D03-EB3F-4F1C-8EB8-F211E604F7D5}"/>
              </a:ext>
            </a:extLst>
          </p:cNvPr>
          <p:cNvSpPr txBox="1"/>
          <p:nvPr/>
        </p:nvSpPr>
        <p:spPr>
          <a:xfrm>
            <a:off x="290945" y="727364"/>
            <a:ext cx="146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andrew’s 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3ED5BA-E137-5560-185E-445A0FB8B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0" y="2000250"/>
            <a:ext cx="47879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3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783C-DFA2-004B-097C-C928F590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578B38-8807-B81D-1D4B-4E45EAD860D6}"/>
              </a:ext>
            </a:extLst>
          </p:cNvPr>
          <p:cNvSpPr txBox="1"/>
          <p:nvPr/>
        </p:nvSpPr>
        <p:spPr>
          <a:xfrm>
            <a:off x="342900" y="1062990"/>
            <a:ext cx="84353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0B2C5E"/>
                </a:solidFill>
              </a:rPr>
              <a:t>when measuring only 2 nucleons and reconstructing the 3rd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32B7D7-47EC-AFC7-3695-246230F205A8}"/>
              </a:ext>
            </a:extLst>
          </p:cNvPr>
          <p:cNvCxnSpPr>
            <a:cxnSpLocks/>
          </p:cNvCxnSpPr>
          <p:nvPr/>
        </p:nvCxnSpPr>
        <p:spPr>
          <a:xfrm flipV="1">
            <a:off x="4157661" y="2389585"/>
            <a:ext cx="1296593" cy="1089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1C19FC-E9BE-DB35-B6C4-4C9BA7C34FBC}"/>
              </a:ext>
            </a:extLst>
          </p:cNvPr>
          <p:cNvCxnSpPr>
            <a:cxnSpLocks/>
          </p:cNvCxnSpPr>
          <p:nvPr/>
        </p:nvCxnSpPr>
        <p:spPr>
          <a:xfrm flipH="1" flipV="1">
            <a:off x="2668191" y="3096816"/>
            <a:ext cx="1489470" cy="382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24E6C6-D6E0-C51D-666E-E254B9B20F76}"/>
              </a:ext>
            </a:extLst>
          </p:cNvPr>
          <p:cNvCxnSpPr>
            <a:cxnSpLocks/>
          </p:cNvCxnSpPr>
          <p:nvPr/>
        </p:nvCxnSpPr>
        <p:spPr>
          <a:xfrm>
            <a:off x="4157662" y="3479051"/>
            <a:ext cx="0" cy="1793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A8DD4E4-186E-F252-A114-923D2A9AD0BB}"/>
              </a:ext>
            </a:extLst>
          </p:cNvPr>
          <p:cNvSpPr/>
          <p:nvPr/>
        </p:nvSpPr>
        <p:spPr>
          <a:xfrm>
            <a:off x="3701364" y="3043236"/>
            <a:ext cx="891161" cy="89116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9AA79DD-1A02-1046-435A-B30108CEF94F}"/>
                  </a:ext>
                </a:extLst>
              </p:cNvPr>
              <p:cNvSpPr txBox="1"/>
              <p:nvPr/>
            </p:nvSpPr>
            <p:spPr>
              <a:xfrm>
                <a:off x="4248528" y="3460822"/>
                <a:ext cx="28078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L" sz="135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9AA79DD-1A02-1046-435A-B30108CEF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528" y="3460822"/>
                <a:ext cx="280782" cy="207749"/>
              </a:xfrm>
              <a:prstGeom prst="rect">
                <a:avLst/>
              </a:prstGeom>
              <a:blipFill>
                <a:blip r:embed="rId3"/>
                <a:stretch>
                  <a:fillRect l="-13043" r="-4348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3524D1-027D-BE11-0B13-2D9A33ACAF50}"/>
                  </a:ext>
                </a:extLst>
              </p:cNvPr>
              <p:cNvSpPr txBox="1"/>
              <p:nvPr/>
            </p:nvSpPr>
            <p:spPr>
              <a:xfrm>
                <a:off x="3831430" y="3532631"/>
                <a:ext cx="28482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IL" sz="135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3524D1-027D-BE11-0B13-2D9A33ACA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430" y="3532631"/>
                <a:ext cx="284822" cy="207749"/>
              </a:xfrm>
              <a:prstGeom prst="rect">
                <a:avLst/>
              </a:prstGeom>
              <a:blipFill>
                <a:blip r:embed="rId4"/>
                <a:stretch>
                  <a:fillRect l="-13043" r="-4348" b="-1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42E969-D7D3-4F04-E59F-F886F456EB52}"/>
                  </a:ext>
                </a:extLst>
              </p:cNvPr>
              <p:cNvSpPr txBox="1"/>
              <p:nvPr/>
            </p:nvSpPr>
            <p:spPr>
              <a:xfrm>
                <a:off x="3995829" y="3152214"/>
                <a:ext cx="28078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L" sz="135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42E969-D7D3-4F04-E59F-F886F456E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829" y="3152214"/>
                <a:ext cx="280782" cy="207749"/>
              </a:xfrm>
              <a:prstGeom prst="rect">
                <a:avLst/>
              </a:prstGeom>
              <a:blipFill>
                <a:blip r:embed="rId5"/>
                <a:stretch>
                  <a:fillRect l="-13043" r="-4348" b="-176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669A2FF-9125-DA2D-2E3B-BD022C1CD9DF}"/>
                  </a:ext>
                </a:extLst>
              </p:cNvPr>
              <p:cNvSpPr txBox="1"/>
              <p:nvPr/>
            </p:nvSpPr>
            <p:spPr>
              <a:xfrm>
                <a:off x="5438573" y="2095462"/>
                <a:ext cx="4605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669A2FF-9125-DA2D-2E3B-BD022C1C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573" y="2095462"/>
                <a:ext cx="460511" cy="369332"/>
              </a:xfrm>
              <a:prstGeom prst="rect">
                <a:avLst/>
              </a:prstGeom>
              <a:blipFill>
                <a:blip r:embed="rId6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15FBB4-DCA3-3508-051F-073D6D43A653}"/>
                  </a:ext>
                </a:extLst>
              </p:cNvPr>
              <p:cNvSpPr txBox="1"/>
              <p:nvPr/>
            </p:nvSpPr>
            <p:spPr>
              <a:xfrm>
                <a:off x="3973824" y="5298809"/>
                <a:ext cx="465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15FBB4-DCA3-3508-051F-073D6D43A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824" y="5298809"/>
                <a:ext cx="465833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A21E26-61B3-2598-C290-87F30862A363}"/>
                  </a:ext>
                </a:extLst>
              </p:cNvPr>
              <p:cNvSpPr txBox="1"/>
              <p:nvPr/>
            </p:nvSpPr>
            <p:spPr>
              <a:xfrm>
                <a:off x="2318817" y="2852978"/>
                <a:ext cx="465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A21E26-61B3-2598-C290-87F30862A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817" y="2852978"/>
                <a:ext cx="465833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43DF4B6-D1F4-A59B-8005-734AD381E8D9}"/>
              </a:ext>
            </a:extLst>
          </p:cNvPr>
          <p:cNvSpPr txBox="1"/>
          <p:nvPr/>
        </p:nvSpPr>
        <p:spPr>
          <a:xfrm>
            <a:off x="5797160" y="2164711"/>
            <a:ext cx="112242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350" dirty="0"/>
              <a:t>Lead nucleon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14A0B7-FF67-01BD-DCF0-A439AC3E18F8}"/>
              </a:ext>
            </a:extLst>
          </p:cNvPr>
          <p:cNvSpPr txBox="1"/>
          <p:nvPr/>
        </p:nvSpPr>
        <p:spPr>
          <a:xfrm>
            <a:off x="342900" y="1548391"/>
            <a:ext cx="5529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We look at the distribution of opening angles of 2N SRCs,</a:t>
            </a:r>
          </a:p>
          <a:p>
            <a:r>
              <a:rPr lang="en-IL" dirty="0"/>
              <a:t>where a 3rd nucleon is reconstructed.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570E4-A4F8-77DF-1EB7-249F12C1898A}"/>
              </a:ext>
            </a:extLst>
          </p:cNvPr>
          <p:cNvSpPr txBox="1"/>
          <p:nvPr/>
        </p:nvSpPr>
        <p:spPr>
          <a:xfrm>
            <a:off x="6118622" y="4672012"/>
            <a:ext cx="186192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350" dirty="0">
                <a:solidFill>
                  <a:srgbClr val="FF0000"/>
                </a:solidFill>
              </a:rPr>
              <a:t>from detected nucleons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26690F-D2BF-11EC-B1B6-6924D39C6D15}"/>
              </a:ext>
            </a:extLst>
          </p:cNvPr>
          <p:cNvCxnSpPr>
            <a:cxnSpLocks/>
          </p:cNvCxnSpPr>
          <p:nvPr/>
        </p:nvCxnSpPr>
        <p:spPr>
          <a:xfrm flipH="1">
            <a:off x="4529327" y="4854179"/>
            <a:ext cx="1492855" cy="4179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255D6-EDE0-3CA4-9ED2-2CFAB4D83AAC}"/>
              </a:ext>
            </a:extLst>
          </p:cNvPr>
          <p:cNvCxnSpPr>
            <a:cxnSpLocks/>
          </p:cNvCxnSpPr>
          <p:nvPr/>
        </p:nvCxnSpPr>
        <p:spPr>
          <a:xfrm flipH="1" flipV="1">
            <a:off x="5614988" y="2528888"/>
            <a:ext cx="696516" cy="2057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5480F6-56AE-4B80-69CD-59D837DAE405}"/>
                  </a:ext>
                </a:extLst>
              </p:cNvPr>
              <p:cNvSpPr txBox="1"/>
              <p:nvPr/>
            </p:nvSpPr>
            <p:spPr>
              <a:xfrm>
                <a:off x="689257" y="2904737"/>
                <a:ext cx="1440266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L" sz="1350" dirty="0">
                    <a:solidFill>
                      <a:srgbClr val="FF0000"/>
                    </a:solidFill>
                  </a:rPr>
                  <a:t>reconstructed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35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≡−</m:t>
                      </m:r>
                      <m:d>
                        <m:dPr>
                          <m:ctrlP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3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L" sz="135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5480F6-56AE-4B80-69CD-59D837DAE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57" y="2904737"/>
                <a:ext cx="1440266" cy="507831"/>
              </a:xfrm>
              <a:prstGeom prst="rect">
                <a:avLst/>
              </a:prstGeom>
              <a:blipFill>
                <a:blip r:embed="rId9"/>
                <a:stretch>
                  <a:fillRect l="-877" b="-243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20E4FA-CC21-2FD0-C6B4-A0EB6980DFDB}"/>
                  </a:ext>
                </a:extLst>
              </p:cNvPr>
              <p:cNvSpPr txBox="1"/>
              <p:nvPr/>
            </p:nvSpPr>
            <p:spPr>
              <a:xfrm>
                <a:off x="504496" y="3495159"/>
                <a:ext cx="1991058" cy="3091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35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35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𝑙𝑒𝑎𝑑</m:t>
                          </m:r>
                          <m:r>
                            <a:rPr lang="en-US" sz="135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5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𝑑𝑒𝑡𝑒𝑐𝑡𝑒𝑑</m:t>
                          </m:r>
                        </m:sub>
                      </m:sSub>
                      <m:r>
                        <a:rPr lang="en-US" sz="135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35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35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L" sz="135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20E4FA-CC21-2FD0-C6B4-A0EB6980D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96" y="3495159"/>
                <a:ext cx="1991058" cy="309187"/>
              </a:xfrm>
              <a:prstGeom prst="rect">
                <a:avLst/>
              </a:prstGeom>
              <a:blipFill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416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8656E1-67BC-68B1-DDB0-330B99E8C38A}"/>
              </a:ext>
            </a:extLst>
          </p:cNvPr>
          <p:cNvSpPr txBox="1"/>
          <p:nvPr/>
        </p:nvSpPr>
        <p:spPr>
          <a:xfrm>
            <a:off x="1597785" y="1092805"/>
            <a:ext cx="938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3N + FSI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4614DD-A4F1-DBB5-F7B3-445C071DA24C}"/>
                  </a:ext>
                </a:extLst>
              </p:cNvPr>
              <p:cNvSpPr txBox="1"/>
              <p:nvPr/>
            </p:nvSpPr>
            <p:spPr>
              <a:xfrm>
                <a:off x="2758303" y="6277222"/>
                <a:ext cx="43858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8,45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𝐿𝑒𝑎𝑑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&lt;12</m:t>
                    </m:r>
                  </m:oMath>
                </a14:m>
                <a:r>
                  <a:rPr lang="en-IL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4614DD-A4F1-DBB5-F7B3-445C071DA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03" y="6277222"/>
                <a:ext cx="4385881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8FBBE769-B456-F69E-DEBB-EBFCCDBC79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77"/>
          <a:stretch>
            <a:fillRect/>
          </a:stretch>
        </p:blipFill>
        <p:spPr>
          <a:xfrm>
            <a:off x="448046" y="1734671"/>
            <a:ext cx="8247907" cy="3630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F2394D-2EAD-4FE7-49B6-0EEA2D0BBD6E}"/>
              </a:ext>
            </a:extLst>
          </p:cNvPr>
          <p:cNvSpPr txBox="1"/>
          <p:nvPr/>
        </p:nvSpPr>
        <p:spPr>
          <a:xfrm>
            <a:off x="5827059" y="1076744"/>
            <a:ext cx="938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2N + FSI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CB9B8-2489-4CD1-9EC5-EDF207322A98}"/>
              </a:ext>
            </a:extLst>
          </p:cNvPr>
          <p:cNvSpPr txBox="1"/>
          <p:nvPr/>
        </p:nvSpPr>
        <p:spPr>
          <a:xfrm>
            <a:off x="2758303" y="1059187"/>
            <a:ext cx="1521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[low statistics]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9AB7D-979F-8616-7F9E-A307B71BEE22}"/>
              </a:ext>
            </a:extLst>
          </p:cNvPr>
          <p:cNvSpPr txBox="1"/>
          <p:nvPr/>
        </p:nvSpPr>
        <p:spPr>
          <a:xfrm>
            <a:off x="448046" y="6277222"/>
            <a:ext cx="240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only events that satisfy:</a:t>
            </a:r>
          </a:p>
        </p:txBody>
      </p:sp>
    </p:spTree>
    <p:extLst>
      <p:ext uri="{BB962C8B-B14F-4D97-AF65-F5344CB8AC3E}">
        <p14:creationId xmlns:p14="http://schemas.microsoft.com/office/powerpoint/2010/main" val="1212298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35282C-EAA6-5A79-D933-743F9456B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54987"/>
            <a:ext cx="7772400" cy="3948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CF30E6-A4DF-86E1-0D97-0BED05DB09DE}"/>
              </a:ext>
            </a:extLst>
          </p:cNvPr>
          <p:cNvSpPr txBox="1"/>
          <p:nvPr/>
        </p:nvSpPr>
        <p:spPr>
          <a:xfrm>
            <a:off x="1258432" y="561109"/>
            <a:ext cx="6627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Same comparison between 3N and 2N, only here </a:t>
            </a:r>
            <a:r>
              <a:rPr lang="en-IL" b="1" dirty="0">
                <a:solidFill>
                  <a:srgbClr val="FF0000"/>
                </a:solidFill>
              </a:rPr>
              <a:t>3N is WITHOUT FSI</a:t>
            </a:r>
          </a:p>
        </p:txBody>
      </p:sp>
    </p:spTree>
    <p:extLst>
      <p:ext uri="{BB962C8B-B14F-4D97-AF65-F5344CB8AC3E}">
        <p14:creationId xmlns:p14="http://schemas.microsoft.com/office/powerpoint/2010/main" val="1068462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039C3C-E75C-6C21-5FC5-C0EC3EFE6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92" y="3190660"/>
            <a:ext cx="1190625" cy="542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7D1001-F6D2-4707-B4B0-D61872182A4A}"/>
              </a:ext>
            </a:extLst>
          </p:cNvPr>
          <p:cNvSpPr txBox="1"/>
          <p:nvPr/>
        </p:nvSpPr>
        <p:spPr>
          <a:xfrm>
            <a:off x="663473" y="3278959"/>
            <a:ext cx="35649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500" b="1" dirty="0"/>
              <a:t>Unknown</a:t>
            </a:r>
            <a:r>
              <a:rPr lang="en-IL" sz="1500" dirty="0">
                <a:sym typeface="Wingdings" pitchFamily="2" charset="2"/>
              </a:rPr>
              <a:t> (FSI contamination of left region)</a:t>
            </a:r>
            <a:endParaRPr lang="en-IL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33DF6-AF05-7C36-A046-BF09998EE62B}"/>
              </a:ext>
            </a:extLst>
          </p:cNvPr>
          <p:cNvSpPr txBox="1"/>
          <p:nvPr/>
        </p:nvSpPr>
        <p:spPr>
          <a:xfrm>
            <a:off x="727902" y="4180818"/>
            <a:ext cx="11278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500" b="1" dirty="0"/>
              <a:t>Measurable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462DF-C6D3-BB11-2893-C2E1BDF8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917" y="3987959"/>
            <a:ext cx="24765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5B2584-F407-3570-E911-C38642ABD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417" y="4011772"/>
            <a:ext cx="1438275" cy="638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5155E1-CF18-7852-94F6-AA80E8E36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881" y="2307635"/>
            <a:ext cx="3038475" cy="628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77CF62-82CD-CEA3-D62B-329C4F890F45}"/>
              </a:ext>
            </a:extLst>
          </p:cNvPr>
          <p:cNvSpPr txBox="1"/>
          <p:nvPr/>
        </p:nvSpPr>
        <p:spPr>
          <a:xfrm>
            <a:off x="701357" y="2512050"/>
            <a:ext cx="22697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500" b="1" dirty="0"/>
              <a:t>Calculated from generator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C5F96-378F-E081-1C70-A8A0F549FCBE}"/>
              </a:ext>
            </a:extLst>
          </p:cNvPr>
          <p:cNvSpPr txBox="1"/>
          <p:nvPr/>
        </p:nvSpPr>
        <p:spPr>
          <a:xfrm>
            <a:off x="6231529" y="2483461"/>
            <a:ext cx="3593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350" dirty="0"/>
              <a:t>~1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3EA8D5-8D4F-5E63-A42D-3D74C1623C5F}"/>
              </a:ext>
            </a:extLst>
          </p:cNvPr>
          <p:cNvSpPr txBox="1"/>
          <p:nvPr/>
        </p:nvSpPr>
        <p:spPr>
          <a:xfrm>
            <a:off x="342900" y="1062990"/>
            <a:ext cx="84353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dirty="0">
                <a:solidFill>
                  <a:srgbClr val="0B2C5E"/>
                </a:solidFill>
              </a:rPr>
              <a:t>Data-driven S</a:t>
            </a:r>
            <a:r>
              <a:rPr lang="en-US" sz="2100" b="1" dirty="0">
                <a:solidFill>
                  <a:srgbClr val="0B2C5E"/>
                </a:solidFill>
              </a:rPr>
              <a:t>ignal to </a:t>
            </a:r>
            <a:r>
              <a:rPr sz="2100" b="1" dirty="0">
                <a:solidFill>
                  <a:srgbClr val="0B2C5E"/>
                </a:solidFill>
              </a:rPr>
              <a:t>B</a:t>
            </a:r>
            <a:r>
              <a:rPr lang="en-US" sz="2100" b="1" dirty="0">
                <a:solidFill>
                  <a:srgbClr val="0B2C5E"/>
                </a:solidFill>
              </a:rPr>
              <a:t>ackground ratio</a:t>
            </a:r>
            <a:r>
              <a:rPr sz="2100" b="1" dirty="0">
                <a:solidFill>
                  <a:srgbClr val="0B2C5E"/>
                </a:solidFill>
              </a:rPr>
              <a:t> extraction</a:t>
            </a:r>
          </a:p>
        </p:txBody>
      </p:sp>
    </p:spTree>
    <p:extLst>
      <p:ext uri="{BB962C8B-B14F-4D97-AF65-F5344CB8AC3E}">
        <p14:creationId xmlns:p14="http://schemas.microsoft.com/office/powerpoint/2010/main" val="1739668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87E8723F-9927-FC2F-C5D5-77979C9D9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874" y="1163782"/>
            <a:ext cx="6732126" cy="5162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E98348-33D6-1F57-16C8-242CF4ACCB5D}"/>
              </a:ext>
            </a:extLst>
          </p:cNvPr>
          <p:cNvSpPr txBox="1"/>
          <p:nvPr/>
        </p:nvSpPr>
        <p:spPr>
          <a:xfrm>
            <a:off x="895427" y="748283"/>
            <a:ext cx="3032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400" b="1" dirty="0"/>
              <a:t>R is very sensitive to 3N</a:t>
            </a:r>
          </a:p>
        </p:txBody>
      </p:sp>
    </p:spTree>
    <p:extLst>
      <p:ext uri="{BB962C8B-B14F-4D97-AF65-F5344CB8AC3E}">
        <p14:creationId xmlns:p14="http://schemas.microsoft.com/office/powerpoint/2010/main" val="1957758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6EFDBD25-14F4-5CEA-3AB9-69C50BD7C5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75"/>
          <a:stretch>
            <a:fillRect/>
          </a:stretch>
        </p:blipFill>
        <p:spPr>
          <a:xfrm>
            <a:off x="1788122" y="1775012"/>
            <a:ext cx="5567756" cy="39781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EB200D-3843-3A51-DB70-FDBAEEDF9760}"/>
              </a:ext>
            </a:extLst>
          </p:cNvPr>
          <p:cNvSpPr txBox="1"/>
          <p:nvPr/>
        </p:nvSpPr>
        <p:spPr>
          <a:xfrm>
            <a:off x="5090625" y="5410709"/>
            <a:ext cx="195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=2N/3N in region 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ADA47-BBAE-CF2F-CA2E-AE45C956862E}"/>
              </a:ext>
            </a:extLst>
          </p:cNvPr>
          <p:cNvSpPr txBox="1"/>
          <p:nvPr/>
        </p:nvSpPr>
        <p:spPr>
          <a:xfrm>
            <a:off x="3429000" y="712694"/>
            <a:ext cx="155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log-log version</a:t>
            </a:r>
          </a:p>
        </p:txBody>
      </p:sp>
    </p:spTree>
    <p:extLst>
      <p:ext uri="{BB962C8B-B14F-4D97-AF65-F5344CB8AC3E}">
        <p14:creationId xmlns:p14="http://schemas.microsoft.com/office/powerpoint/2010/main" val="1051455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14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1051</Words>
  <Application>Microsoft Macintosh PowerPoint</Application>
  <PresentationFormat>On-screen Show (4:3)</PresentationFormat>
  <Paragraphs>110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Ilay Wischevsky Shlush</cp:lastModifiedBy>
  <cp:revision>50</cp:revision>
  <dcterms:created xsi:type="dcterms:W3CDTF">2013-01-27T09:14:16Z</dcterms:created>
  <dcterms:modified xsi:type="dcterms:W3CDTF">2026-06-06T10:39:32Z</dcterms:modified>
  <cp:category/>
</cp:coreProperties>
</file>